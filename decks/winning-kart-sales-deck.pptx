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(USD)</c:v>
                </c:pt>
              </c:strCache>
            </c:strRef>
          </c:tx>
          <c:spPr>
            <a:solidFill>
              <a:srgbClr val="544B78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3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4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64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92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3E6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Northbeam</c:v>
                  </c:pt>
                  <c:pt idx="1">
                    <c:v>Whatagraph</c:v>
                  </c:pt>
                  <c:pt idx="2">
                    <c:v>AgencyAnalytics</c:v>
                  </c:pt>
                  <c:pt idx="3">
                    <c:v>Winning Kart (self-hosted)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1500</c:v>
                </c:pt>
                <c:pt idx="1">
                  <c:v>790</c:v>
                </c:pt>
                <c:pt idx="2">
                  <c:v>300</c:v>
                </c:pt>
                <c:pt idx="3">
                  <c:v>20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3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C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92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Match quality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3E635"/>
              </a:solidFill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bubble3D val="0"/>
            <c:spPr>
              <a:solidFill>
                <a:srgbClr val="544B7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0714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0714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0714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Tier A — click-id</c:v>
                </c:pt>
                <c:pt idx="1">
                  <c:v>Tier B — UTM</c:v>
                </c:pt>
                <c:pt idx="2">
                  <c:v>Tier C — unmatched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24</c:v>
                </c:pt>
                <c:pt idx="2">
                  <c:v>14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FC6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Caught at weekly review</c:v>
                </c:pt>
              </c:strCache>
            </c:strRef>
          </c:tx>
          <c:spPr>
            <a:solidFill>
              <a:srgbClr val="FB7185"/>
            </a:solidFill>
            <a:ln w="31750" cap="flat">
              <a:solidFill>
                <a:srgbClr val="FB71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B7185"/>
              </a:solidFill>
              <a:ln w="9525" cap="flat">
                <a:solidFill>
                  <a:srgbClr val="FB71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715</c:v>
                </c:pt>
                <c:pt idx="1">
                  <c:v>1430</c:v>
                </c:pt>
                <c:pt idx="2">
                  <c:v>2145</c:v>
                </c:pt>
                <c:pt idx="3">
                  <c:v>2860</c:v>
                </c:pt>
                <c:pt idx="4">
                  <c:v>3575</c:v>
                </c:pt>
                <c:pt idx="5">
                  <c:v>4290</c:v>
                </c:pt>
                <c:pt idx="6">
                  <c:v>5005</c:v>
                </c:pt>
                <c:pt idx="7">
                  <c:v>5720</c:v>
                </c:pt>
                <c:pt idx="8">
                  <c:v>5720</c:v>
                </c:pt>
                <c:pt idx="9">
                  <c:v>5720</c:v>
                </c:pt>
                <c:pt idx="10">
                  <c:v>5720</c:v>
                </c:pt>
                <c:pt idx="11">
                  <c:v>5720</c:v>
                </c:pt>
                <c:pt idx="12">
                  <c:v>5720</c:v>
                </c:pt>
                <c:pt idx="13">
                  <c:v>5720</c:v>
                </c:pt>
                <c:pt idx="14">
                  <c:v>5720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Caught by Winning Kart (hourly sync)</c:v>
                </c:pt>
              </c:strCache>
            </c:strRef>
          </c:tx>
          <c:spPr>
            <a:solidFill>
              <a:srgbClr val="A3E635"/>
            </a:solidFill>
            <a:ln w="31750" cap="flat">
              <a:solidFill>
                <a:srgbClr val="A3E6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3E635"/>
              </a:solidFill>
              <a:ln w="9525" cap="flat">
                <a:solidFill>
                  <a:srgbClr val="A3E6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715</c:v>
                </c:pt>
                <c:pt idx="1">
                  <c:v>715</c:v>
                </c:pt>
                <c:pt idx="2">
                  <c:v>715</c:v>
                </c:pt>
                <c:pt idx="3">
                  <c:v>715</c:v>
                </c:pt>
                <c:pt idx="4">
                  <c:v>715</c:v>
                </c:pt>
                <c:pt idx="5">
                  <c:v>715</c:v>
                </c:pt>
                <c:pt idx="6">
                  <c:v>715</c:v>
                </c:pt>
                <c:pt idx="7">
                  <c:v>715</c:v>
                </c:pt>
                <c:pt idx="8">
                  <c:v>715</c:v>
                </c:pt>
                <c:pt idx="9">
                  <c:v>715</c:v>
                </c:pt>
                <c:pt idx="10">
                  <c:v>715</c:v>
                </c:pt>
                <c:pt idx="11">
                  <c:v>715</c:v>
                </c:pt>
                <c:pt idx="12">
                  <c:v>715</c:v>
                </c:pt>
                <c:pt idx="13">
                  <c:v>715</c:v>
                </c:pt>
                <c:pt idx="14">
                  <c:v>715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C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234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92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FC6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per month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0&quot; h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5F3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E63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Manual exports &amp; screenshots</c:v>
                  </c:pt>
                  <c:pt idx="1">
                    <c:v>Winning Kart pulse + portal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9</c:v>
                </c:pt>
              </c:numCache>
            </c:numRef>
          </c:val>
        </c:ser>
        <c:dLbls>
          <c:numFmt formatCode="0&quot; h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5F3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C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92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\wk-crm\.deck-build\assets\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MARKETING, OWNED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86384" y="1783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</a:t>
            </a:r>
            <a:pPr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self-hosted performance-marketing platform for agencies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data. Your roof. Your rules.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0" y="466344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store, any stack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466344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agent ready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4663440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included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an agency on rented tools costs you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00784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6" name="Image 0" descr="D:\Work\wk-crm\.deck-build\assets\pain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23" y="1824411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32257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lives in their cloud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8096" y="268833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insight, token and history sits on vendor servers. Leave, and the archive stays behind.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481328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2856" y="1700784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11" name="Image 1" descr="D:\Work\wk-crm\.deck-build\assets\pain-pr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483" y="1824411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32257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that punishes growth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62856" y="268833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per client, €699 floors, spend-based tiers. Your roster doubles — so does the bill.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481328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7616" y="1700784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16" name="Image 2" descr="D:\Work\wk-crm\.deck-build\assets\pai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243" y="1824411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32257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attribution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7616" y="2688336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asks how ROAS was computed, the honest answer is: the vendor will not say.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85616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05072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21" name="Image 3" descr="D:\Work\wk-crm\.deck-build\assets\pain-un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23" y="4128699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46268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tools, zero flow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68096" y="4992624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here, automation there, creative analysis elsewhere — stitched by exports and hope.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785616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2856" y="4005072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26" name="Image 4" descr="D:\Work\wk-crm\.deck-build\assets\pain-por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483" y="4128699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6268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 clients ignore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62856" y="4992624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dashboard with a login. Clients nod politely, then ask: so is it working?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785616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7616" y="4005072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31" name="Image 5" descr="D:\Work\wk-crm\.deck-build\assets\pain-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243" y="4128699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46268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path to automation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7616" y="4992624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increasingly run on agents and APIs. Most incumbent tools offer neither.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pricing wall, at a 15-client roster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720840" cy="4480560"/>
          </a:xfrm>
          <a:prstGeom prst="roundRect">
            <a:avLst>
              <a:gd name="adj" fmla="val 183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691640"/>
          <a:ext cx="62636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589520" y="26974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total platform cost — a small VPS you already know how to run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07808" y="3776472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9" name="Text 6"/>
          <p:cNvSpPr/>
          <p:nvPr/>
        </p:nvSpPr>
        <p:spPr>
          <a:xfrm>
            <a:off x="7827264" y="3657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clients, ad accounts and users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07808" y="4197096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1" name="Text 8"/>
          <p:cNvSpPr/>
          <p:nvPr/>
        </p:nvSpPr>
        <p:spPr>
          <a:xfrm>
            <a:off x="7827264" y="40782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per-seat, per-client or spend meter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07808" y="4617720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3" name="Text 10"/>
          <p:cNvSpPr/>
          <p:nvPr/>
        </p:nvSpPr>
        <p:spPr>
          <a:xfrm>
            <a:off x="7827264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line item — forever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pricing verified Aug 2026 · Northbeam entry from $1,500/mo · Self-hosted cost = one small VPS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operator-owned platform for the whole 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5" name="Image 0" descr="D:\Work\wk-crm\.deck-build\assets\sol-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57788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4173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pulse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25296" y="171907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client, every account — one 15-second morning read.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9" name="Image 1" descr="D:\Work\wk-crm\.deck-build\assets\sol-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51057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3500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platform, one dashboard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25296" y="265176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Google, TikTok, Snapchat and LinkedIn connect through one adapter seam — your book reads the same whichever mix you run.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310128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3" name="Image 2" descr="D:\Work\wk-crm\.deck-build\assets\sol-st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443265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28269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any stack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25296" y="358444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WooCommerce or your custom API — ingested from day one.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242816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7" name="Image 3" descr="D:\Work\wk-crm\.deck-build\assets\sol-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375953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5296" y="42153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portal clients trust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25296" y="451713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results, fully read-only, zero internals leaked.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175504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21" name="Image 4" descr="D:\Work\wk-crm\.deck-build\assets\sol-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77" y="5308641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25296" y="51480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done right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25296" y="544982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AES-256-GCM encrypted; your Postgres, your VPS, your keys.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086600" y="1444752"/>
            <a:ext cx="4526280" cy="4526280"/>
          </a:xfrm>
          <a:prstGeom prst="roundRect">
            <a:avLst>
              <a:gd name="adj" fmla="val 1818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360920" y="1645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 — OVERVIEW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360920" y="2011680"/>
            <a:ext cx="1261872" cy="841248"/>
          </a:xfrm>
          <a:prstGeom prst="roundRect">
            <a:avLst>
              <a:gd name="adj" fmla="val 6522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452360" y="2084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7452360" y="2267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184,320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452360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8732520" y="2011680"/>
            <a:ext cx="1261872" cy="841248"/>
          </a:xfrm>
          <a:prstGeom prst="roundRect">
            <a:avLst>
              <a:gd name="adj" fmla="val 6522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823960" y="2084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8823960" y="2267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611,540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823960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10104120" y="2011680"/>
            <a:ext cx="1261872" cy="841248"/>
          </a:xfrm>
          <a:prstGeom prst="roundRect">
            <a:avLst>
              <a:gd name="adj" fmla="val 6522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195560" y="2084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10195560" y="2267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3.32x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0195560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-0.14x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360920" y="3072384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1A142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525512" y="325526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0" name="Text 33"/>
          <p:cNvSpPr/>
          <p:nvPr/>
        </p:nvSpPr>
        <p:spPr>
          <a:xfrm>
            <a:off x="7744968" y="31821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7525512" y="34198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Nour ROAS fell 28% (4.1x → 3.0x) over 7 days; AED 3,400 at risk.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525512" y="3840480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/>
        </p:spPr>
      </p:sp>
      <p:sp>
        <p:nvSpPr>
          <p:cNvPr id="43" name="Text 36"/>
          <p:cNvSpPr/>
          <p:nvPr/>
        </p:nvSpPr>
        <p:spPr>
          <a:xfrm>
            <a:off x="7525512" y="3840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campaigns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7406640" y="5056632"/>
            <a:ext cx="384048" cy="502920"/>
          </a:xfrm>
          <a:prstGeom prst="roundRect">
            <a:avLst>
              <a:gd name="adj" fmla="val 7143"/>
            </a:avLst>
          </a:prstGeom>
          <a:solidFill>
            <a:srgbClr val="A3E635"/>
          </a:solidFill>
          <a:ln/>
        </p:spPr>
      </p:sp>
      <p:sp>
        <p:nvSpPr>
          <p:cNvPr id="45" name="Shape 38"/>
          <p:cNvSpPr/>
          <p:nvPr/>
        </p:nvSpPr>
        <p:spPr>
          <a:xfrm>
            <a:off x="7973568" y="4736592"/>
            <a:ext cx="384048" cy="822960"/>
          </a:xfrm>
          <a:prstGeom prst="roundRect">
            <a:avLst>
              <a:gd name="adj" fmla="val 7143"/>
            </a:avLst>
          </a:prstGeom>
          <a:solidFill>
            <a:srgbClr val="A3E635"/>
          </a:solidFill>
          <a:ln/>
        </p:spPr>
      </p:sp>
      <p:sp>
        <p:nvSpPr>
          <p:cNvPr id="46" name="Shape 39"/>
          <p:cNvSpPr/>
          <p:nvPr/>
        </p:nvSpPr>
        <p:spPr>
          <a:xfrm>
            <a:off x="8540496" y="5193792"/>
            <a:ext cx="384048" cy="365760"/>
          </a:xfrm>
          <a:prstGeom prst="roundRect">
            <a:avLst>
              <a:gd name="adj" fmla="val 7500"/>
            </a:avLst>
          </a:prstGeom>
          <a:solidFill>
            <a:srgbClr val="FB7185"/>
          </a:solidFill>
          <a:ln/>
        </p:spPr>
      </p:sp>
      <p:sp>
        <p:nvSpPr>
          <p:cNvPr id="47" name="Shape 40"/>
          <p:cNvSpPr/>
          <p:nvPr/>
        </p:nvSpPr>
        <p:spPr>
          <a:xfrm>
            <a:off x="9107424" y="4553712"/>
            <a:ext cx="384048" cy="1005840"/>
          </a:xfrm>
          <a:prstGeom prst="roundRect">
            <a:avLst>
              <a:gd name="adj" fmla="val 7143"/>
            </a:avLst>
          </a:prstGeom>
          <a:solidFill>
            <a:srgbClr val="A3E635"/>
          </a:solidFill>
          <a:ln/>
        </p:spPr>
      </p:sp>
      <p:sp>
        <p:nvSpPr>
          <p:cNvPr id="48" name="Shape 41"/>
          <p:cNvSpPr/>
          <p:nvPr/>
        </p:nvSpPr>
        <p:spPr>
          <a:xfrm>
            <a:off x="9674352" y="4919472"/>
            <a:ext cx="384048" cy="640080"/>
          </a:xfrm>
          <a:prstGeom prst="roundRect">
            <a:avLst>
              <a:gd name="adj" fmla="val 7143"/>
            </a:avLst>
          </a:prstGeom>
          <a:solidFill>
            <a:srgbClr val="FB7185"/>
          </a:solidFill>
          <a:ln/>
        </p:spPr>
      </p:sp>
      <p:sp>
        <p:nvSpPr>
          <p:cNvPr id="49" name="Shape 42"/>
          <p:cNvSpPr/>
          <p:nvPr/>
        </p:nvSpPr>
        <p:spPr>
          <a:xfrm>
            <a:off x="10241280" y="4370832"/>
            <a:ext cx="384048" cy="1188720"/>
          </a:xfrm>
          <a:prstGeom prst="roundRect">
            <a:avLst>
              <a:gd name="adj" fmla="val 7143"/>
            </a:avLst>
          </a:prstGeom>
          <a:solidFill>
            <a:srgbClr val="A3E635"/>
          </a:solidFill>
          <a:ln/>
        </p:spPr>
      </p:sp>
      <p:sp>
        <p:nvSpPr>
          <p:cNvPr id="50" name="Shape 43"/>
          <p:cNvSpPr/>
          <p:nvPr/>
        </p:nvSpPr>
        <p:spPr>
          <a:xfrm>
            <a:off x="10808208" y="5102352"/>
            <a:ext cx="384048" cy="457200"/>
          </a:xfrm>
          <a:prstGeom prst="roundRect">
            <a:avLst>
              <a:gd name="adj" fmla="val 7143"/>
            </a:avLst>
          </a:prstGeom>
          <a:solidFill>
            <a:srgbClr val="A3E635"/>
          </a:solidFill>
          <a:ln/>
        </p:spPr>
      </p:sp>
      <p:sp>
        <p:nvSpPr>
          <p:cNvPr id="51" name="Text 44"/>
          <p:cNvSpPr/>
          <p:nvPr/>
        </p:nvSpPr>
        <p:spPr>
          <a:xfrm>
            <a:off x="7360920" y="56144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· all clients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AGENCIES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how agencies actually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8B5CF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627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08276" y="2189988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7" name="Shape 5"/>
          <p:cNvSpPr/>
          <p:nvPr/>
        </p:nvSpPr>
        <p:spPr>
          <a:xfrm>
            <a:off x="2404872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1828800"/>
            <a:ext cx="1627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4508" y="2189988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10" name="Shape 8"/>
          <p:cNvSpPr/>
          <p:nvPr/>
        </p:nvSpPr>
        <p:spPr>
          <a:xfrm>
            <a:off x="4261104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1104" y="1828800"/>
            <a:ext cx="1627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Account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20740" y="2189988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7336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828800"/>
            <a:ext cx="1627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6972" y="2189988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973568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1828800"/>
            <a:ext cx="1627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33204" y="2189988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19" name="Shape 17"/>
          <p:cNvSpPr/>
          <p:nvPr/>
        </p:nvSpPr>
        <p:spPr>
          <a:xfrm>
            <a:off x="9829800" y="18288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1828800"/>
            <a:ext cx="16276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/ Creative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2971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SURFACE DRILLS THIS CHAIN · EVERY ROLE SEES ITS SLICE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3602736" cy="1234440"/>
          </a:xfrm>
          <a:prstGeom prst="roundRect">
            <a:avLst>
              <a:gd name="adj" fmla="val 666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7-role RBAC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to client viewer — scoped at the query layer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520440"/>
            <a:ext cx="3602736" cy="1234440"/>
          </a:xfrm>
          <a:prstGeom prst="roundRect">
            <a:avLst>
              <a:gd name="adj" fmla="val 666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client portal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output, never a data dump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520440"/>
            <a:ext cx="3602736" cy="1234440"/>
          </a:xfrm>
          <a:prstGeom prst="roundRect">
            <a:avLst>
              <a:gd name="adj" fmla="val 666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Signals: alerts &amp; tasks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667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hangs off the chain and links back to 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not a node. </a:t>
            </a:r>
            <a:pPr indent="0" marL="0">
              <a:buNone/>
            </a:pPr>
            <a:r>
              <a:rPr lang="en-US" sz="12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arrives from the client's store or CRM and is attributed back onto this chain with match-quality tiers — nothing duplicated, everything drillable.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DRIVER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every morning with the 15-second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D:\Work\wk-crm\.deck-build\assets\m-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57788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417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ranked by money at risk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25296" y="17190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failures and ROAS drops sort themselves to the top of one list.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1" descr="D:\Work\wk-crm\.deck-build\assets\m-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71174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551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health strip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25296" y="28529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expiry, sync failures, restrictions — operational trust at a glance.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12464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2" descr="D:\Work\wk-crm\.deck-build\assets\m-cli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845601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6850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to campaign in one click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25296" y="39867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carries you straight to the offending entity, filters intact.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486460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CLIMBS THIS LADDER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517550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51755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874520" y="5330952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20" name="Shape 15"/>
          <p:cNvSpPr/>
          <p:nvPr/>
        </p:nvSpPr>
        <p:spPr>
          <a:xfrm>
            <a:off x="2066544" y="517550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066544" y="51755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392424" y="5330952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23" name="Shape 18"/>
          <p:cNvSpPr/>
          <p:nvPr/>
        </p:nvSpPr>
        <p:spPr>
          <a:xfrm>
            <a:off x="3584448" y="517550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584448" y="51755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910328" y="5330952"/>
            <a:ext cx="164592" cy="146304"/>
          </a:xfrm>
          <a:prstGeom prst="rightArrow">
            <a:avLst/>
          </a:prstGeom>
          <a:solidFill>
            <a:srgbClr val="9D92C9"/>
          </a:solidFill>
          <a:ln/>
        </p:spPr>
      </p:sp>
      <p:sp>
        <p:nvSpPr>
          <p:cNvPr id="26" name="Shape 21"/>
          <p:cNvSpPr/>
          <p:nvPr/>
        </p:nvSpPr>
        <p:spPr>
          <a:xfrm>
            <a:off x="5102352" y="5175504"/>
            <a:ext cx="1298448" cy="457200"/>
          </a:xfrm>
          <a:prstGeom prst="roundRect">
            <a:avLst>
              <a:gd name="adj" fmla="val 14000"/>
            </a:avLst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02352" y="51755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B0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4864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and Alerts always reach ACTION.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812280" y="1481328"/>
            <a:ext cx="4800600" cy="4480560"/>
          </a:xfrm>
          <a:prstGeom prst="roundRect">
            <a:avLst>
              <a:gd name="adj" fmla="val 183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086600" y="170078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 — TOP 3 OF 7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086600" y="2103120"/>
            <a:ext cx="4251960" cy="1115568"/>
          </a:xfrm>
          <a:prstGeom prst="roundRect">
            <a:avLst>
              <a:gd name="adj" fmla="val 49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251192" y="2286000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3" name="Text 28"/>
          <p:cNvSpPr/>
          <p:nvPr/>
        </p:nvSpPr>
        <p:spPr>
          <a:xfrm>
            <a:off x="7452360" y="22128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7251192" y="2450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Nour ROAS fell 28% (4.1x → 3.0x); AED 3,400 at risk.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251192" y="2907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Maison Nour campaigns  →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7086600" y="3364992"/>
            <a:ext cx="4251960" cy="1115568"/>
          </a:xfrm>
          <a:prstGeom prst="roundRect">
            <a:avLst>
              <a:gd name="adj" fmla="val 49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251192" y="3547872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8" name="Text 33"/>
          <p:cNvSpPr/>
          <p:nvPr/>
        </p:nvSpPr>
        <p:spPr>
          <a:xfrm>
            <a:off x="7452360" y="34747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7251192" y="37124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 Coffee pacing 22% over its AED 20,000 monthly cap.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7251192" y="4169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budget &amp; pacing  →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7086600" y="4626864"/>
            <a:ext cx="4251960" cy="1115568"/>
          </a:xfrm>
          <a:prstGeom prst="roundRect">
            <a:avLst>
              <a:gd name="adj" fmla="val 49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251192" y="4809744"/>
            <a:ext cx="118872" cy="118872"/>
          </a:xfrm>
          <a:prstGeom prst="ellipse">
            <a:avLst/>
          </a:prstGeom>
          <a:solidFill>
            <a:srgbClr val="9D92C9"/>
          </a:solidFill>
          <a:ln/>
        </p:spPr>
      </p:sp>
      <p:sp>
        <p:nvSpPr>
          <p:cNvPr id="43" name="Text 38"/>
          <p:cNvSpPr/>
          <p:nvPr/>
        </p:nvSpPr>
        <p:spPr>
          <a:xfrm>
            <a:off x="7452360" y="4736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251192" y="4974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Zaytoun: one ad drives 78% of purchases — concentration risk.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7251192" y="5431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ads &amp; creatives  →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SURFACES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winners and losers before the invoice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37360"/>
            <a:ext cx="566928" cy="566928"/>
          </a:xfrm>
          <a:prstGeom prst="ellipse">
            <a:avLst/>
          </a:prstGeom>
          <a:solidFill>
            <a:srgbClr val="1A142A"/>
          </a:solidFill>
          <a:ln/>
        </p:spPr>
      </p:sp>
      <p:pic>
        <p:nvPicPr>
          <p:cNvPr id="6" name="Image 0" descr="D:\Work\wk-crm\.deck-build\assets\f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ledger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metrics first, winner and loser rows tinted, spend share visible. Drill from account to creative in three hops — every lens deep-linkable.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hops, not thirty clicks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481328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1737360"/>
            <a:ext cx="566928" cy="566928"/>
          </a:xfrm>
          <a:prstGeom prst="ellipse">
            <a:avLst/>
          </a:prstGeom>
          <a:solidFill>
            <a:srgbClr val="1A142A"/>
          </a:solidFill>
          <a:ln/>
        </p:spPr>
      </p:sp>
      <p:pic>
        <p:nvPicPr>
          <p:cNvPr id="12" name="Image 1" descr="D:\Work\wk-crm\.deck-build\assets\f-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833" y="188476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 comparison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99432" y="28346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four ad sets side-by-side against a baseline, cost metrics inverted, and honest guardrails when objectives do not compare.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99432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Split-test reads in seconds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481328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4192" y="1737360"/>
            <a:ext cx="566928" cy="566928"/>
          </a:xfrm>
          <a:prstGeom prst="ellipse">
            <a:avLst/>
          </a:prstGeom>
          <a:solidFill>
            <a:srgbClr val="1A142A"/>
          </a:solidFill>
          <a:ln/>
        </p:spPr>
      </p:sp>
      <p:pic>
        <p:nvPicPr>
          <p:cNvPr id="18" name="Image 2" descr="D:\Work\wk-crm\.deck-build\assets\f-gall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593" y="188476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intelligence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94192" y="28346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gallery that flags fatigue — frequency, CTR decay, spend concentration — and concentration risk before a single ad carries the whole account.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94192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briefs backed by evidence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576072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up to 4 ad sets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03320" y="576072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rules built in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132320" y="57607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flagged at 50% of spend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only matter when they become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719072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D:\Work\wk-crm\.deck-build\assets\w-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83794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idempotent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96896" y="2185416"/>
            <a:ext cx="164592" cy="146304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0" name="Shape 7"/>
          <p:cNvSpPr/>
          <p:nvPr/>
        </p:nvSpPr>
        <p:spPr>
          <a:xfrm>
            <a:off x="2816352" y="157276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1719072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D:\Work\wk-crm\.deck-build\assets\w-det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83794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16352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16352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money rules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64608" y="2185416"/>
            <a:ext cx="164592" cy="146304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6" name="Shape 12"/>
          <p:cNvSpPr/>
          <p:nvPr/>
        </p:nvSpPr>
        <p:spPr>
          <a:xfrm>
            <a:off x="5084064" y="157276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43016" y="1719072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D:\Work\wk-crm\.deck-build\assets\w-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83794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4064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84064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risk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132320" y="2185416"/>
            <a:ext cx="164592" cy="146304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2" name="Shape 17"/>
          <p:cNvSpPr/>
          <p:nvPr/>
        </p:nvSpPr>
        <p:spPr>
          <a:xfrm>
            <a:off x="7351776" y="157276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10728" y="1719072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3" descr="D:\Work\wk-crm\.deck-build\assets\w-t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3794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51776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51776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&amp; assigned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400032" y="2185416"/>
            <a:ext cx="164592" cy="146304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8" name="Shape 22"/>
          <p:cNvSpPr/>
          <p:nvPr/>
        </p:nvSpPr>
        <p:spPr>
          <a:xfrm>
            <a:off x="9619488" y="157276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78440" y="1719072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0" name="Image 4" descr="D:\Work\wk-crm\.deck-build\assets\w-d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312" y="183794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19488" y="22311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19488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auto-resolves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Anti-noise is the product: signals that survive are the ones you act on.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48640" y="365760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per entity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410712" y="365760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while a task is open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272784" y="365760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spend at risk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9134856" y="365760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unattributed below 60% cause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RULES, ALWAYS ON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8640" y="47548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drop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410712" y="47548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spike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272784" y="47548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Zero-conversion spend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9134856" y="47548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fatigue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48640" y="52120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concentration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3410712" y="52120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expiring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272784" y="52120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expired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9134856" y="521208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1A142A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restricted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 between spend and real money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ingests from any stack — Shopify, WooCommerce or a custom API — from day one. Then every dirham is matched with its quality shown, never hidden.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432304"/>
            <a:ext cx="182880" cy="18288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77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 — Deterministic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700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click-id is present. The order ties to a specific ad. Highest trust.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330098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461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 — Probabilistic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5387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parameters resolve the order to a campaign group.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4169664"/>
            <a:ext cx="182880" cy="182880"/>
          </a:xfrm>
          <a:prstGeom prst="ellipse">
            <a:avLst/>
          </a:prstGeom>
          <a:solidFill>
            <a:srgbClr val="6E6494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14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 — Unmatched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407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signal. Recorded and shown honestly — never fabricated.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carries its model and its limits.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Limitations tab ships first-class — you can defend any figure to a CFO.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1481328"/>
            <a:ext cx="4709160" cy="4480560"/>
          </a:xfrm>
          <a:prstGeom prst="roundRect">
            <a:avLst>
              <a:gd name="adj" fmla="val 183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7190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CREDIT LANDS — ILLUSTRATIVE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78040" y="2057400"/>
          <a:ext cx="4160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PORTAL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clients read in ten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5" name="Image 0" descr="D:\Work\wk-crm\.deck-build\assets\p-t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614465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45389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KPIs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25296" y="1746504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earned AED 3.32 for every AED 1 spent” — no jargon to translate, no spin to unspin.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9" name="Image 1" descr="D:\Work\wk-crm\.deck-build\assets\p-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69345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5328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internals leaked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25296" y="282549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pacing, no token status, no cost diagnostics. Outcomes only — the back office stays backstage.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39312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3" name="Image 2" descr="D:\Work\wk-crm\.deck-build\assets\p-r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772449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611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by role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25296" y="3904488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roles. Client logins see their book and nothing else — enforced at the query layer.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718304"/>
            <a:ext cx="512064" cy="512064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7" name="Image 3" descr="D:\Work\wk-crm\.deck-build\assets\p-c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851441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5296" y="4690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Scheduled, branded reports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25296" y="49834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brings white-label PDFs that land in the portal automatically. The artifact that leaves the building.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5870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drops when clients understand their numbers.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903720" y="1481328"/>
            <a:ext cx="4709160" cy="4480560"/>
          </a:xfrm>
          <a:prstGeom prst="roundRect">
            <a:avLst>
              <a:gd name="adj" fmla="val 183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178040" y="1682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NOUR · CLIENT PORTAL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178040" y="2084832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306056" y="2176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306056" y="23774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61,300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326880" y="2084832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454896" y="2176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9454896" y="23774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203,500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7178040" y="2999232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06056" y="30906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7306056" y="3291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3.32x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326880" y="2999232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1A142A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454896" y="30906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9454896" y="3291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847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178040" y="40233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earned AED 3.32 for every AED 1 spent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223760" y="5321808"/>
            <a:ext cx="347472" cy="320040"/>
          </a:xfrm>
          <a:prstGeom prst="roundRect">
            <a:avLst>
              <a:gd name="adj" fmla="val 8571"/>
            </a:avLst>
          </a:prstGeom>
          <a:solidFill>
            <a:srgbClr val="6E6494"/>
          </a:solidFill>
          <a:ln/>
        </p:spPr>
      </p:sp>
      <p:sp>
        <p:nvSpPr>
          <p:cNvPr id="37" name="Shape 31"/>
          <p:cNvSpPr/>
          <p:nvPr/>
        </p:nvSpPr>
        <p:spPr>
          <a:xfrm>
            <a:off x="7754112" y="5138928"/>
            <a:ext cx="347472" cy="502920"/>
          </a:xfrm>
          <a:prstGeom prst="roundRect">
            <a:avLst>
              <a:gd name="adj" fmla="val 7895"/>
            </a:avLst>
          </a:prstGeom>
          <a:solidFill>
            <a:srgbClr val="6E6494"/>
          </a:solidFill>
          <a:ln/>
        </p:spPr>
      </p:sp>
      <p:sp>
        <p:nvSpPr>
          <p:cNvPr id="38" name="Shape 32"/>
          <p:cNvSpPr/>
          <p:nvPr/>
        </p:nvSpPr>
        <p:spPr>
          <a:xfrm>
            <a:off x="8284464" y="5257800"/>
            <a:ext cx="347472" cy="384048"/>
          </a:xfrm>
          <a:prstGeom prst="roundRect">
            <a:avLst>
              <a:gd name="adj" fmla="val 7895"/>
            </a:avLst>
          </a:prstGeom>
          <a:solidFill>
            <a:srgbClr val="6E6494"/>
          </a:solidFill>
          <a:ln/>
        </p:spPr>
      </p:sp>
      <p:sp>
        <p:nvSpPr>
          <p:cNvPr id="39" name="Shape 33"/>
          <p:cNvSpPr/>
          <p:nvPr/>
        </p:nvSpPr>
        <p:spPr>
          <a:xfrm>
            <a:off x="8814816" y="5020056"/>
            <a:ext cx="347472" cy="621792"/>
          </a:xfrm>
          <a:prstGeom prst="roundRect">
            <a:avLst>
              <a:gd name="adj" fmla="val 7895"/>
            </a:avLst>
          </a:prstGeom>
          <a:solidFill>
            <a:srgbClr val="6E6494"/>
          </a:solidFill>
          <a:ln/>
        </p:spPr>
      </p:sp>
      <p:sp>
        <p:nvSpPr>
          <p:cNvPr id="40" name="Shape 34"/>
          <p:cNvSpPr/>
          <p:nvPr/>
        </p:nvSpPr>
        <p:spPr>
          <a:xfrm>
            <a:off x="9345168" y="5093208"/>
            <a:ext cx="347472" cy="548640"/>
          </a:xfrm>
          <a:prstGeom prst="roundRect">
            <a:avLst>
              <a:gd name="adj" fmla="val 7895"/>
            </a:avLst>
          </a:prstGeom>
          <a:solidFill>
            <a:srgbClr val="6E6494"/>
          </a:solidFill>
          <a:ln/>
        </p:spPr>
      </p:sp>
      <p:sp>
        <p:nvSpPr>
          <p:cNvPr id="41" name="Shape 35"/>
          <p:cNvSpPr/>
          <p:nvPr/>
        </p:nvSpPr>
        <p:spPr>
          <a:xfrm>
            <a:off x="9875520" y="4892040"/>
            <a:ext cx="347472" cy="749808"/>
          </a:xfrm>
          <a:prstGeom prst="roundRect">
            <a:avLst>
              <a:gd name="adj" fmla="val 7895"/>
            </a:avLst>
          </a:prstGeom>
          <a:solidFill>
            <a:srgbClr val="A3E635"/>
          </a:solidFill>
          <a:ln/>
        </p:spPr>
      </p:sp>
      <p:sp>
        <p:nvSpPr>
          <p:cNvPr id="42" name="Shape 36"/>
          <p:cNvSpPr/>
          <p:nvPr/>
        </p:nvSpPr>
        <p:spPr>
          <a:xfrm>
            <a:off x="10405872" y="4773168"/>
            <a:ext cx="347472" cy="868680"/>
          </a:xfrm>
          <a:prstGeom prst="roundRect">
            <a:avLst>
              <a:gd name="adj" fmla="val 7895"/>
            </a:avLst>
          </a:prstGeom>
          <a:solidFill>
            <a:srgbClr val="A3E635"/>
          </a:solidFill>
          <a:ln/>
        </p:spPr>
      </p:sp>
      <p:sp>
        <p:nvSpPr>
          <p:cNvPr id="43" name="Shape 37"/>
          <p:cNvSpPr/>
          <p:nvPr/>
        </p:nvSpPr>
        <p:spPr>
          <a:xfrm>
            <a:off x="10936224" y="4636008"/>
            <a:ext cx="347472" cy="1005840"/>
          </a:xfrm>
          <a:prstGeom prst="roundRect">
            <a:avLst>
              <a:gd name="adj" fmla="val 7895"/>
            </a:avLst>
          </a:prstGeom>
          <a:solidFill>
            <a:srgbClr val="A3E635"/>
          </a:solidFill>
          <a:ln/>
        </p:spPr>
      </p:sp>
      <p:sp>
        <p:nvSpPr>
          <p:cNvPr id="44" name="Text 38"/>
          <p:cNvSpPr/>
          <p:nvPr/>
        </p:nvSpPr>
        <p:spPr>
          <a:xfrm>
            <a:off x="7178040" y="568756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revenue · last 30 days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detection pays for itself in week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pattern the platform catches: frequency 5.2, CTR down 27% week-over-week, AED 715 a day of cohort spend on one dying creative.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223760" cy="3977640"/>
          </a:xfrm>
          <a:prstGeom prst="roundRect">
            <a:avLst>
              <a:gd name="adj" fmla="val 2069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77240" y="2194560"/>
          <a:ext cx="6766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09244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4,290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092440" y="3017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incident when detection runs hourly instead of weekly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10728" y="3977640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3886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runs hourly; reviews run weekly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10728" y="4434840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4343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saved incident pays for a year of VPS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computed from the platform's own detection rules and thresholds.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team their month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309360" cy="4480560"/>
          </a:xfrm>
          <a:prstGeom prst="roundRect">
            <a:avLst>
              <a:gd name="adj" fmla="val 1837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h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7315200" y="2697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per month on a 10-client book — analysis, reporting and client check-ins included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33488" y="3721608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9" name="Text 6"/>
          <p:cNvSpPr/>
          <p:nvPr/>
        </p:nvSpPr>
        <p:spPr>
          <a:xfrm>
            <a:off x="7552944" y="36027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five strategy sessions, or five pitches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33488" y="4178808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1" name="Text 8"/>
          <p:cNvSpPr/>
          <p:nvPr/>
        </p:nvSpPr>
        <p:spPr>
          <a:xfrm>
            <a:off x="7552944" y="40599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check: 45 minutes becomes five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33488" y="4636008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3" name="Text 10"/>
          <p:cNvSpPr/>
          <p:nvPr/>
        </p:nvSpPr>
        <p:spPr>
          <a:xfrm>
            <a:off x="7552944" y="45171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client in minutes, not days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33488" y="5093208"/>
            <a:ext cx="91440" cy="914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5" name="Text 12"/>
          <p:cNvSpPr/>
          <p:nvPr/>
        </p:nvSpPr>
        <p:spPr>
          <a:xfrm>
            <a:off x="7552944" y="49743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questions answered from the portal, not your inbox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10-client roster; routine analysis, reporting and check-ins.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&amp;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data. Your roof. Your rules.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5" name="Image 0" descr="D:\Work\wk-crm\.deck-build\assets\o-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715414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544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VPS you like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98448" y="186537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Hostinger, AWS EC2, DigitalOcean — Coolify and Traefik deploy in an afternoon, SSL included.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572768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9" name="Image 1" descr="D:\Work\wk-crm\.deck-build\assets\o-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286" y="17154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13448" y="15544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done right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13448" y="186537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tokens encrypted with AES-256-GCM. Master keys never leave your environment.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54096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3" name="Image 2" descr="D:\Work\wk-crm\.deck-build\assets\o-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19674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0358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Residency on your terms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98448" y="334670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PDPL and GDPR aligned by default — data lives wherever your box lives.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054096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7" name="Image 3" descr="D:\Work\wk-crm\.deck-build\assets\o-ex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86" y="3196742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13448" y="30358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export, anytime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13448" y="334670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table, one JSON download. Walk away any day with everything in hand.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535424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21" name="Image 4" descr="D:\Work\wk-crm\.deck-build\assets\o-au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678070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4517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 log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98448" y="482803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token and write — recorded, filterable, exportable. Trust you can show.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263640" y="5989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telemetry. No vendor lock-in. No quarterly price letter.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AUTOMATION-READY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agent 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" cy="548640"/>
          </a:xfrm>
          <a:prstGeom prst="ellipse">
            <a:avLst/>
          </a:prstGeom>
          <a:solidFill>
            <a:srgbClr val="1A142A"/>
          </a:solidFill>
          <a:ln/>
        </p:spPr>
      </p:sp>
      <p:pic>
        <p:nvPicPr>
          <p:cNvPr id="5" name="Image 0" descr="D:\Work\wk-crm\.deck-build\assets\a-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715414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REST, token-gated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86537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automations and AI agents log in like team members — scoped, revocable, audited.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548640" cy="548640"/>
          </a:xfrm>
          <a:prstGeom prst="ellipse">
            <a:avLst/>
          </a:prstGeom>
          <a:solidFill>
            <a:srgbClr val="1A142A"/>
          </a:solidFill>
          <a:ln/>
        </p:spPr>
      </p:sp>
      <p:pic>
        <p:nvPicPr>
          <p:cNvPr id="9" name="Image 1" descr="D:\Work\wk-crm\.deck-build\assets\a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94985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889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tools today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09981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book, pull campaigns and alerts, create tasks, trigger syncs — more every release.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41648"/>
            <a:ext cx="548640" cy="548640"/>
          </a:xfrm>
          <a:prstGeom prst="ellipse">
            <a:avLst/>
          </a:prstGeom>
          <a:solidFill>
            <a:srgbClr val="1A142A"/>
          </a:solidFill>
          <a:ln/>
        </p:spPr>
      </p:sp>
      <p:pic>
        <p:nvPicPr>
          <p:cNvPr id="13" name="Image 2" descr="D:\Work\wk-crm\.deck-build\assets\a-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18429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233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 that act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33425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n8n or a custom agent at weekly recaps, budget checks and creative-refresh prompts.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03720" y="1572768"/>
            <a:ext cx="4709160" cy="4023360"/>
          </a:xfrm>
          <a:prstGeom prst="roundRect">
            <a:avLst>
              <a:gd name="adj" fmla="val 2045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78040" y="17922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/api/mcp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178040" y="2139696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D9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"tools/call",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"params": { "name": "sync_ad_account",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5F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"arguments": { "adAccountId": "act_123" } }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D9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178040" y="408736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/>
        </p:spPr>
      </p:sp>
      <p:sp>
        <p:nvSpPr>
          <p:cNvPr id="20" name="Text 15"/>
          <p:cNvSpPr/>
          <p:nvPr/>
        </p:nvSpPr>
        <p:spPr>
          <a:xfrm>
            <a:off x="7178040" y="40873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83880" y="4105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alerts, overview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78040" y="454456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/>
        </p:spPr>
      </p:sp>
      <p:sp>
        <p:nvSpPr>
          <p:cNvPr id="23" name="Text 18"/>
          <p:cNvSpPr/>
          <p:nvPr/>
        </p:nvSpPr>
        <p:spPr>
          <a:xfrm>
            <a:off x="7178040" y="45445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183880" y="4562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account syncs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178040" y="500176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/>
        </p:spPr>
      </p:sp>
      <p:sp>
        <p:nvSpPr>
          <p:cNvPr id="26" name="Text 21"/>
          <p:cNvSpPr/>
          <p:nvPr/>
        </p:nvSpPr>
        <p:spPr>
          <a:xfrm>
            <a:off x="7178040" y="50017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183880" y="5020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update work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fast. Ships far.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25400">
            <a:solidFill>
              <a:srgbClr val="3B30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2066544"/>
            <a:ext cx="164592" cy="164592"/>
          </a:xfrm>
          <a:prstGeom prst="ellipse">
            <a:avLst/>
          </a:prstGeom>
          <a:solidFill>
            <a:srgbClr val="A3E635"/>
          </a:solidFill>
          <a:ln w="25400">
            <a:solidFill>
              <a:srgbClr val="0B0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SHIPPED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9264" y="306324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pulse · Ad-platform sync · Signals to tasks · Client portal · Revenue ingest · MCP tools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9584" y="2066544"/>
            <a:ext cx="164592" cy="164592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B07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— DEPTH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25146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attribution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58184" y="306324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white-label · Shopify + CAPI · 5 attribution models · Marketing plans · Budget &amp; pacing · Google Ads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18504" y="2066544"/>
            <a:ext cx="164592" cy="164592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B07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— BREADTH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5146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47104" y="306324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Snapchat · LinkedIn · WooCommerce &amp; CRM · Profit &amp; margin · Audience overlap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7424" y="2066544"/>
            <a:ext cx="164592" cy="164592"/>
          </a:xfrm>
          <a:prstGeom prst="ellipse">
            <a:avLst/>
          </a:prstGeom>
          <a:solidFill>
            <a:srgbClr val="9D92C9"/>
          </a:solidFill>
          <a:ln w="25400">
            <a:solidFill>
              <a:srgbClr val="0B07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25146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51022"/>
          </a:solidFill>
          <a:ln w="12700">
            <a:solidFill>
              <a:srgbClr val="2C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grade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36024" y="306324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IP allow-list · Warehouse export · Brand-accent white-label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complete and production-ready today — everything right of NOW ships as included updates on the same self-hosted install.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\wk-crm\.deck-build\assets\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your book.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your VPS this afternoon. Pilot with three clients. Expand when the portal wins them over.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22960" y="397764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8B5CF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9776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walkthrough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77640" y="41148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51022"/>
          </a:solidFill>
          <a:ln w="12700">
            <a:solidFill>
              <a:srgbClr val="3B30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· Meta-first · MCP-ready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KART — self-hosted performance marketing for agencies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Winning Kart — Own your book</dc:title>
  <dc:subject>PptxGenJS Presentation</dc:subject>
  <dc:creator>Winning Kart</dc:creator>
  <cp:lastModifiedBy>Winning Kart</cp:lastModifiedBy>
  <cp:revision>1</cp:revision>
  <dcterms:created xsi:type="dcterms:W3CDTF">2026-08-16T23:45:57Z</dcterms:created>
  <dcterms:modified xsi:type="dcterms:W3CDTF">2026-08-16T23:45:57Z</dcterms:modified>
</cp:coreProperties>
</file>