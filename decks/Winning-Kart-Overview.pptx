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Winning Kart: self-hosted performance marketing for agencies. Operator holds the database, the tokens, and the full history. Deck styled in the product's own Night Volt design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Competitive thesis: every verified incumbent is cloud-only SaaS priced per-client or per-spend. The self-hosted agency seat is empty; Winning Kart takes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pillars of the product. Meta-first does not mean Meta-only: every new ad platform is an adapter behind one seam, and commerce ingest (Shopify, WooCommerce, custom backend) is equally agnostic.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audiences with very different cadences. Hermes is the operator's automation agent — a PAT user like any other, so automation has no privileged back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binding entity chain. Revenue is attributed onto this chain with match-quality tiers A..D — Meta CAPI is the attribution-identity solution for server-side conversions.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surface answers exactly one question. The ladder DATA -&gt; INSIGHT -&gt; DECISION -&gt; ACTION governs information design; Overview and Alerts &amp; Tasks must reach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is itself rendered in Night Volt. In the product the tokens live in packages/ui/src/theme.css as Tailwind v4 CSS-first @theme variables; a light companion variant covers printable client artifacts.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locked August 2026. Eden Treaty gives an end-to-end typed API client; Neon Postgres for dev, self-hosted Postgres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per the condensed PRD. MVP already includes PATs, MCP and custom-backend revenue ingest; attribution models land fully at V1 with the Limitations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Deployment is a generic VPS under Coolify with Traefik. The two stats: the platform runs with zero connectors configured, and everything — data, tokens, history — is operator-owned.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commands from clone to running stack. The right card is the M1 milestone flow for connecting a real Meta ad account; every connection error is worded by the wizard's error catalog.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product's first principle on and off the screen: honest numbers, operator ownership, and every surface climbing to a decision the buyer can act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095" y="1941271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8932" y="2007108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19110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· OPERATOR-OWNED · AGENCY-FIRST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2267712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94360" y="34015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self-hosted performance-marketing platform for agencies.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03504" y="4041648"/>
            <a:ext cx="256032" cy="68580"/>
          </a:xfrm>
          <a:prstGeom prst="roundRect">
            <a:avLst>
              <a:gd name="adj" fmla="val 46667"/>
            </a:avLst>
          </a:prstGeom>
          <a:solidFill>
            <a:srgbClr val="3B3057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4041648"/>
            <a:ext cx="329184" cy="68580"/>
          </a:xfrm>
          <a:prstGeom prst="roundRect">
            <a:avLst>
              <a:gd name="adj" fmla="val 46667"/>
            </a:avLst>
          </a:prstGeom>
          <a:solidFill>
            <a:srgbClr val="8B5CF6"/>
          </a:solidFill>
          <a:ln/>
        </p:spPr>
      </p:sp>
      <p:sp>
        <p:nvSpPr>
          <p:cNvPr id="9" name="Shape 7"/>
          <p:cNvSpPr/>
          <p:nvPr/>
        </p:nvSpPr>
        <p:spPr>
          <a:xfrm>
            <a:off x="1353312" y="4041648"/>
            <a:ext cx="420624" cy="68580"/>
          </a:xfrm>
          <a:prstGeom prst="roundRect">
            <a:avLst>
              <a:gd name="adj" fmla="val 46667"/>
            </a:avLst>
          </a:prstGeom>
          <a:solidFill>
            <a:srgbClr val="A78BF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437083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Operator-owned data · transparent attribution · a client portal worth trusting — run on infrastructure you control.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4360" y="6199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— August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0" y="61996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direction: Night Volt — Vibrant / Bold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92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76127" y="64922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0235" y="350215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76072" y="41605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329184"/>
            <a:ext cx="10783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THESIS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void Winning Kart occupies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66928" y="1389888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2551" y="1703527"/>
            <a:ext cx="213970" cy="213970"/>
          </a:xfrm>
          <a:prstGeom prst="ellipse">
            <a:avLst/>
          </a:prstGeom>
          <a:solidFill>
            <a:srgbClr val="FB7185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18388" y="1769364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1" name="Text 9"/>
          <p:cNvSpPr/>
          <p:nvPr/>
        </p:nvSpPr>
        <p:spPr>
          <a:xfrm>
            <a:off x="1042416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incumbent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9536" y="2121408"/>
            <a:ext cx="4828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Cloud-only SaaS — your data lives in their stack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per-client or per-spend — cost scales with success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is a black box — “trust me”, not “show me”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self-hosted Meta Ads dashboard with an agency hierarchy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36208" y="1389888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151022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21831" y="1703527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87668" y="1769364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711696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28816" y="2121408"/>
            <a:ext cx="4828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on a VPS you control — your Postgres, your history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TCO — one instance serves every client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“Show your work” attribution with match-quality tiers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→ Client → Account hierarchy built in from day one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4864608"/>
            <a:ext cx="11057839" cy="960120"/>
          </a:xfrm>
          <a:prstGeom prst="roundRect">
            <a:avLst>
              <a:gd name="adj" fmla="val 8571"/>
            </a:avLst>
          </a:prstGeom>
          <a:solidFill>
            <a:srgbClr val="1A142A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864608"/>
            <a:ext cx="103263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 verified ads/attribution incumbent ships a self-hosted Meta Ads dashboard with an agency hierarchy — Winning Kart occupies that void: flat TCO, operator-owned encrypted tokens, data residency in the operator’s hands.”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92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76127" y="64922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0235" y="350215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76072" y="41605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329184"/>
            <a:ext cx="10783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Winning Kart is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66928" y="1371600"/>
            <a:ext cx="3547872" cy="2286000"/>
          </a:xfrm>
          <a:prstGeom prst="roundRect">
            <a:avLst>
              <a:gd name="adj" fmla="val 360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4263" y="1593799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00100" y="1659636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15361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Agency-first hierarchy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1993392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→ Client → Ad Account → Campaign → Ad Set → Ad/Creative — one chain, every surface organized around 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371600"/>
            <a:ext cx="3547872" cy="2286000"/>
          </a:xfrm>
          <a:prstGeom prst="roundRect">
            <a:avLst>
              <a:gd name="adj" fmla="val 360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65015" y="1593799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30852" y="1659636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5361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Meta-first, platform-agnostic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1993392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Meta Ads adapter today; Google, TikTok, Snapchat and LinkedIn arrive as adapters behind the same seam, never forks.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28432" y="1371600"/>
            <a:ext cx="3547872" cy="2286000"/>
          </a:xfrm>
          <a:prstGeom prst="roundRect">
            <a:avLst>
              <a:gd name="adj" fmla="val 360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5767" y="1593799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61604" y="1659636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8485632" y="15361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attribution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02752" y="1993392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Platform-reported numbers labeled as such; WK-computed models with match-quality tiers and a first-class Limitations tab.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3840480"/>
            <a:ext cx="3547872" cy="2286000"/>
          </a:xfrm>
          <a:prstGeom prst="roundRect">
            <a:avLst>
              <a:gd name="adj" fmla="val 360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4263" y="4062679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00100" y="4128516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1024128" y="40050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intelligence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" y="4462272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Gallery, fatigue and anomaly detection — frequency, CTR decay, spend concentration — plus lifecycle classification.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3840480"/>
            <a:ext cx="3547872" cy="2286000"/>
          </a:xfrm>
          <a:prstGeom prst="roundRect">
            <a:avLst>
              <a:gd name="adj" fmla="val 360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65015" y="4062679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30852" y="4128516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40050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client portal clients trust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0" y="4462272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Read-mostly, plain-English, a glance answer to “is my money working?” — the back office stays hidden.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28432" y="3840480"/>
            <a:ext cx="3547872" cy="2286000"/>
          </a:xfrm>
          <a:prstGeom prst="roundRect">
            <a:avLst>
              <a:gd name="adj" fmla="val 360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95767" y="4062679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261604" y="4128516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8485632" y="40050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+ REST API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302752" y="4462272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access tokens: the operator’s automation logs in as a normal user and works programmatically.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92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76127" y="64922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0235" y="350215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76072" y="41605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329184"/>
            <a:ext cx="10783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it's for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66928" y="1371600"/>
            <a:ext cx="3547872" cy="3977640"/>
          </a:xfrm>
          <a:prstGeom prst="roundRect">
            <a:avLst>
              <a:gd name="adj" fmla="val 232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645920"/>
            <a:ext cx="2148840" cy="329184"/>
          </a:xfrm>
          <a:prstGeom prst="roundRect">
            <a:avLst>
              <a:gd name="adj" fmla="val 19444"/>
            </a:avLst>
          </a:prstGeom>
          <a:solidFill>
            <a:srgbClr val="1A142A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6459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 · ALL DAY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21579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team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41248" y="25786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· Admin · Account Manager · Marketer · Analyst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31546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book all day, every day: connect accounts, read performance, act on insights, report to clients.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1371600"/>
            <a:ext cx="3547872" cy="3977640"/>
          </a:xfrm>
          <a:prstGeom prst="roundRect">
            <a:avLst>
              <a:gd name="adj" fmla="val 232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645920"/>
            <a:ext cx="2148840" cy="329184"/>
          </a:xfrm>
          <a:prstGeom prst="roundRect">
            <a:avLst>
              <a:gd name="adj" fmla="val 19444"/>
            </a:avLst>
          </a:prstGeom>
          <a:solidFill>
            <a:srgbClr val="1A142A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6459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 · TRUST-FOCUSED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0" y="21579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572000" y="25786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Admin · Client Viewer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31546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read-mostly portal, visited a few times a week: “is my money working — and is it getting better or worse?”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28432" y="1371600"/>
            <a:ext cx="3547872" cy="3977640"/>
          </a:xfrm>
          <a:prstGeom prst="roundRect">
            <a:avLst>
              <a:gd name="adj" fmla="val 232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2752" y="1645920"/>
            <a:ext cx="2148840" cy="329184"/>
          </a:xfrm>
          <a:prstGeom prst="roundRect">
            <a:avLst>
              <a:gd name="adj" fmla="val 19444"/>
            </a:avLst>
          </a:prstGeom>
          <a:solidFill>
            <a:srgbClr val="1A142A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2752" y="16459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SCHEDULED · PAT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302752" y="21579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— automation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302752" y="25786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operator’s agent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02752" y="31546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 a personal access token, Hermes logs in as a normal user and performs scheduled tasks via REST and MCP. No speculative automation beyond data sync.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553212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1A142A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5532120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defaults: UAE · AED · Asia/Dubai — period math runs in each ad account’s timezone.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92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76127" y="64922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0235" y="350215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76072" y="41605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329184"/>
            <a:ext cx="10783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entity chain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66928" y="1572768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1A142A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7276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94560" y="1819656"/>
            <a:ext cx="219456" cy="219456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11" name="Shape 9"/>
          <p:cNvSpPr/>
          <p:nvPr/>
        </p:nvSpPr>
        <p:spPr>
          <a:xfrm>
            <a:off x="2441448" y="1572768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1A142A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157276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69080" y="1819656"/>
            <a:ext cx="219456" cy="219456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14" name="Shape 12"/>
          <p:cNvSpPr/>
          <p:nvPr/>
        </p:nvSpPr>
        <p:spPr>
          <a:xfrm>
            <a:off x="4315968" y="1572768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1A142A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157276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Account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0" y="1819656"/>
            <a:ext cx="219456" cy="219456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0488" y="1572768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1A142A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57276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18120" y="1819656"/>
            <a:ext cx="219456" cy="219456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8065008" y="1572768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1A142A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157276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Set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692640" y="1819656"/>
            <a:ext cx="219456" cy="219456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23" name="Shape 21"/>
          <p:cNvSpPr/>
          <p:nvPr/>
        </p:nvSpPr>
        <p:spPr>
          <a:xfrm>
            <a:off x="9939528" y="1572768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1A142A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39528" y="157276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/ Creative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2697480"/>
            <a:ext cx="11057839" cy="1828800"/>
          </a:xfrm>
          <a:prstGeom prst="roundRect">
            <a:avLst>
              <a:gd name="adj" fmla="val 450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2551" y="3020263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18388" y="3086100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1042416" y="2944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is not a node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59536" y="3383280"/>
            <a:ext cx="104726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arrives from commerce and CRM sources — Shopify (V1), WooCommerce (V2), and custom-backend revenue ingest from day one — and is attributed back onto the chain. It is never fabricated: “unattributed” and “not reliably available” are acceptable values, and every estimate is labeled.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66928" y="4754880"/>
            <a:ext cx="11057839" cy="777240"/>
          </a:xfrm>
          <a:prstGeom prst="roundRect">
            <a:avLst>
              <a:gd name="adj" fmla="val 10588"/>
            </a:avLst>
          </a:prstGeom>
          <a:solidFill>
            <a:srgbClr val="1A142A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" y="4754880"/>
            <a:ext cx="104177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quality  </a:t>
            </a:r>
            <a:pPr algn="ctr" indent="0" marL="0">
              <a:buNone/>
            </a:pPr>
            <a:r>
              <a:rPr lang="en-US" sz="12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— deterministic  ···  D — unmatched</a:t>
            </a:r>
            <a:pPr algn="ctr" indent="0" marL="0">
              <a:buNone/>
            </a:pPr>
            <a:r>
              <a:rPr lang="en-US" sz="12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grades every attribution join.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92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76127" y="64922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0235" y="350215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76072" y="41605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329184"/>
            <a:ext cx="10783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SURFACES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 per surface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66928" y="1371600"/>
            <a:ext cx="3310128" cy="2286000"/>
          </a:xfrm>
          <a:prstGeom prst="roundRect">
            <a:avLst>
              <a:gd name="adj" fmla="val 360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5975" y="1593799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81812" y="1659636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15361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1975104"/>
            <a:ext cx="2798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is happening right now? What should I do next? Who do we serve? How do I tell the client?”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12724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· Alerts &amp; Tasks · Clients · Reports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59936" y="1371600"/>
            <a:ext cx="3310128" cy="2286000"/>
          </a:xfrm>
          <a:prstGeom prst="roundRect">
            <a:avLst>
              <a:gd name="adj" fmla="val 360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8983" y="1593799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274820" y="1659636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15361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workspace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15968" y="1975104"/>
            <a:ext cx="2798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“Are connections healthy? Which campaigns, audiences, budgets and attribution caused it?”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15968" y="312724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→ Campaigns → Ads · Analytics · Budget · Attribution · Plans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3840480"/>
            <a:ext cx="3310128" cy="2286000"/>
          </a:xfrm>
          <a:prstGeom prst="roundRect">
            <a:avLst>
              <a:gd name="adj" fmla="val 360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5975" y="4062679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81812" y="4128516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" y="4005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443984"/>
            <a:ext cx="2798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“Wired and syncing? Who can do what? How is the instance configured?”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559612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 · Team &amp; Permissions · Settings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059936" y="3840480"/>
            <a:ext cx="3310128" cy="2286000"/>
          </a:xfrm>
          <a:prstGeom prst="roundRect">
            <a:avLst>
              <a:gd name="adj" fmla="val 360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8983" y="4062679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274820" y="4128516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4480560" y="4005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portal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315968" y="4443984"/>
            <a:ext cx="2798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 my money working — and is it getting better or worse?”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15968" y="559612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Campaigns (read-only) · Creatives · Shared reports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552944" y="13716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 climbs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552944" y="1847088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1A142A"/>
          </a:solidFill>
          <a:ln w="9525">
            <a:solidFill>
              <a:srgbClr val="3B30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52944" y="184708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2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7552944" y="2752344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2C2342"/>
          </a:solidFill>
          <a:ln w="9525">
            <a:solidFill>
              <a:srgbClr val="3B30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52944" y="275234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200" kern="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7552944" y="365760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3B3057"/>
          </a:solidFill>
          <a:ln w="9525">
            <a:solidFill>
              <a:srgbClr val="3B30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52944" y="365760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200" kern="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7552944" y="4562856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8B5CF6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52944" y="4562856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7552944" y="550468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surface duplicates another’s question. Overview and Alerts &amp; Tasks must reach ACTION.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92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76127" y="64922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0235" y="350215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76072" y="41605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329184"/>
            <a:ext cx="10783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Volt — the color direction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66928" y="1371600"/>
            <a:ext cx="2157984" cy="2286000"/>
          </a:xfrm>
          <a:prstGeom prst="roundRect">
            <a:avLst>
              <a:gd name="adj" fmla="val 3814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36192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0B0714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23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volt-ground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7980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#0B0714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05409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ground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07792" y="1371600"/>
            <a:ext cx="2157984" cy="2286000"/>
          </a:xfrm>
          <a:prstGeom prst="roundRect">
            <a:avLst>
              <a:gd name="adj" fmla="val 3814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72384" y="1536192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151022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72384" y="2523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volt-surface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72384" y="27980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#151022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72384" y="305409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&amp; panels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48656" y="1371600"/>
            <a:ext cx="2157984" cy="2286000"/>
          </a:xfrm>
          <a:prstGeom prst="roundRect">
            <a:avLst>
              <a:gd name="adj" fmla="val 3814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13248" y="1536192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2C2342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3248" y="2523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volt-border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13248" y="27980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#2C2342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13248" y="305409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hairline borders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3840480"/>
            <a:ext cx="2157984" cy="2286000"/>
          </a:xfrm>
          <a:prstGeom prst="roundRect">
            <a:avLst>
              <a:gd name="adj" fmla="val 3814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005072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992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volt-primary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5266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#8B5CF6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552297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accent — CTA, active, brand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907792" y="3840480"/>
            <a:ext cx="2157984" cy="2286000"/>
          </a:xfrm>
          <a:prstGeom prst="roundRect">
            <a:avLst>
              <a:gd name="adj" fmla="val 3814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72384" y="4005072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A78BFA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72384" y="4992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volt-primary-strong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072384" y="5266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#A78BFA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72384" y="552297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values &amp; focus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248656" y="3840480"/>
            <a:ext cx="2157984" cy="2286000"/>
          </a:xfrm>
          <a:prstGeom prst="roundRect">
            <a:avLst>
              <a:gd name="adj" fmla="val 3814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13248" y="4005072"/>
            <a:ext cx="868680" cy="914400"/>
          </a:xfrm>
          <a:prstGeom prst="roundRect">
            <a:avLst>
              <a:gd name="adj" fmla="val 6316"/>
            </a:avLst>
          </a:prstGeom>
          <a:solidFill>
            <a:srgbClr val="A3E635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73368" y="4005072"/>
            <a:ext cx="868680" cy="914400"/>
          </a:xfrm>
          <a:prstGeom prst="roundRect">
            <a:avLst>
              <a:gd name="adj" fmla="val 6316"/>
            </a:avLst>
          </a:prstGeom>
          <a:solidFill>
            <a:srgbClr val="FB7185"/>
          </a:solidFill>
          <a:ln w="12700">
            <a:solidFill>
              <a:srgbClr val="3B30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13248" y="4992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volt-up / volt-down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13248" y="5266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#A3E635 / #FB7185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13248" y="552297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/ negative — semantic only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717536" y="1371600"/>
            <a:ext cx="3904488" cy="4754880"/>
          </a:xfrm>
          <a:prstGeom prst="roundRect">
            <a:avLst>
              <a:gd name="adj" fmla="val 2108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91856" y="1627632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rules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991856" y="2057400"/>
            <a:ext cx="335584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accent: volt violet marks the primary action, active selection and brand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 = positive, coral = negative — semantics only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contrast beats vibrancy when they conflict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numeral in mono, tabular figures, right-aligned in data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/ loser as tint washes + signed values, never color alone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dot + halo + word; no glyph icons, no pills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Geist for UI, Geist Mono for data · radius 10px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companion variant exists only for reports &amp; PDF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92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76127" y="64922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0235" y="350215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76072" y="41605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329184"/>
            <a:ext cx="10783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— locked Aug 2026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66928" y="1353312"/>
            <a:ext cx="3547872" cy="822960"/>
          </a:xfrm>
          <a:prstGeom prst="roundRect">
            <a:avLst>
              <a:gd name="adj" fmla="val 1000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472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" y="17007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 · workspaces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353312"/>
            <a:ext cx="3547872" cy="822960"/>
          </a:xfrm>
          <a:prstGeom prst="roundRect">
            <a:avLst>
              <a:gd name="adj" fmla="val 1000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1472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35424" y="17007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Elysia — REST · Eden Treaty · MCP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2313432"/>
            <a:ext cx="3547872" cy="822960"/>
          </a:xfrm>
          <a:prstGeom prst="roundRect">
            <a:avLst>
              <a:gd name="adj" fmla="val 1000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4323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" y="26609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Vite SPA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97680" y="2313432"/>
            <a:ext cx="3547872" cy="822960"/>
          </a:xfrm>
          <a:prstGeom prst="roundRect">
            <a:avLst>
              <a:gd name="adj" fmla="val 1000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5424" y="24323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&amp; DATA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35424" y="26609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Router · React Query v5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273552"/>
            <a:ext cx="3547872" cy="822960"/>
          </a:xfrm>
          <a:prstGeom prst="roundRect">
            <a:avLst>
              <a:gd name="adj" fmla="val 1000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3924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" y="36210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v4 · shadcn/ui — Night Volt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97680" y="3273552"/>
            <a:ext cx="3547872" cy="822960"/>
          </a:xfrm>
          <a:prstGeom prst="roundRect">
            <a:avLst>
              <a:gd name="adj" fmla="val 1000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35424" y="33924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35424" y="36210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· Drizzle ORM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233672"/>
            <a:ext cx="3547872" cy="822960"/>
          </a:xfrm>
          <a:prstGeom prst="roundRect">
            <a:avLst>
              <a:gd name="adj" fmla="val 1000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3525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" y="45811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 JWT · bcrypt · access tokens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297680" y="4233672"/>
            <a:ext cx="3547872" cy="822960"/>
          </a:xfrm>
          <a:prstGeom prst="roundRect">
            <a:avLst>
              <a:gd name="adj" fmla="val 1000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35424" y="43525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35424" y="45811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 envelope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6928" y="5193792"/>
            <a:ext cx="3547872" cy="822960"/>
          </a:xfrm>
          <a:prstGeom prst="roundRect">
            <a:avLst>
              <a:gd name="adj" fmla="val 1000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53126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4672" y="55412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Coolify · Traefik auto-SSL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297680" y="5193792"/>
            <a:ext cx="3547872" cy="822960"/>
          </a:xfrm>
          <a:prstGeom prst="roundRect">
            <a:avLst>
              <a:gd name="adj" fmla="val 10000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35424" y="53126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35424" y="55412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Cypress, mirroring pages/ 1:1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065008" y="1353312"/>
            <a:ext cx="3557016" cy="4709160"/>
          </a:xfrm>
          <a:prstGeom prst="roundRect">
            <a:avLst>
              <a:gd name="adj" fmla="val 2314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1591056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321040" y="205740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apps/api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21040" y="230428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Elysia — modules/&lt;domain&gt;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321040" y="2706624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apps/dashboard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21040" y="295351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SPA — pages/&lt;page&gt;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321040" y="335584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packages/db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321040" y="3602736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schema + seed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321040" y="400507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packages/api-client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321040" y="425196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Eden Treaty client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321040" y="4654296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packages/ui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321040" y="4901184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Volt design system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321040" y="530352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packages/config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321040" y="555040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eslint + tsconfig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92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76127" y="64922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0235" y="350215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76072" y="41605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329184"/>
            <a:ext cx="10783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MVP to Enterprise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115568" y="1810512"/>
            <a:ext cx="9960559" cy="14630"/>
          </a:xfrm>
          <a:prstGeom prst="rect">
            <a:avLst/>
          </a:prstGeom>
          <a:solidFill>
            <a:srgbClr val="3B3057"/>
          </a:solidFill>
          <a:ln/>
        </p:spPr>
      </p:sp>
      <p:sp>
        <p:nvSpPr>
          <p:cNvPr id="9" name="Shape 7"/>
          <p:cNvSpPr/>
          <p:nvPr/>
        </p:nvSpPr>
        <p:spPr>
          <a:xfrm>
            <a:off x="1748333" y="1688897"/>
            <a:ext cx="261518" cy="261518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0" y="1769364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2148840"/>
            <a:ext cx="2624328" cy="3429000"/>
          </a:xfrm>
          <a:prstGeom prst="roundRect">
            <a:avLst>
              <a:gd name="adj" fmla="val 3136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377440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" y="2743200"/>
            <a:ext cx="218541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pulse + insight engine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wizard · campaigns · fatigue rules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Tasks, alerts, recommendations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portal v1 · RBAC · audit log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PATs + MCP · revenue ingest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55541" y="1688897"/>
            <a:ext cx="261518" cy="261518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636008" y="1769364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Shape 14"/>
          <p:cNvSpPr/>
          <p:nvPr/>
        </p:nvSpPr>
        <p:spPr>
          <a:xfrm>
            <a:off x="3374136" y="2148840"/>
            <a:ext cx="2624328" cy="3429000"/>
          </a:xfrm>
          <a:prstGeom prst="roundRect">
            <a:avLst>
              <a:gd name="adj" fmla="val 3136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2377440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93592" y="2743200"/>
            <a:ext cx="218541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Shopify + CAPI identity stitch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attribution models + Limitations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reports + white-label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plans · budget &amp; pacing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· MFA · inline write rails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62749" y="1688897"/>
            <a:ext cx="261518" cy="261518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443216" y="1769364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181344" y="2148840"/>
            <a:ext cx="2624328" cy="3429000"/>
          </a:xfrm>
          <a:prstGeom prst="roundRect">
            <a:avLst>
              <a:gd name="adj" fmla="val 3136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377440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743200"/>
            <a:ext cx="218541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· Snapchat · LinkedIn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WooCommerce · CRM · offline conversions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&amp; margin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overlap · custom roles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169957" y="1688897"/>
            <a:ext cx="261518" cy="261518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250424" y="1769364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Shape 24"/>
          <p:cNvSpPr/>
          <p:nvPr/>
        </p:nvSpPr>
        <p:spPr>
          <a:xfrm>
            <a:off x="8988552" y="2148840"/>
            <a:ext cx="2624328" cy="3429000"/>
          </a:xfrm>
          <a:prstGeom prst="roundRect">
            <a:avLst>
              <a:gd name="adj" fmla="val 3136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08008" y="2377440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08008" y="2743200"/>
            <a:ext cx="218541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· IP allow-list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export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Brand-accent white-label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5760720"/>
            <a:ext cx="11057839" cy="502920"/>
          </a:xfrm>
          <a:prstGeom prst="roundRect">
            <a:avLst>
              <a:gd name="adj" fmla="val 16364"/>
            </a:avLst>
          </a:prstGeom>
          <a:solidFill>
            <a:srgbClr val="1A142A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5760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M0 (foundation) → M5 (operator hardening) — each milestone ends demonstrable.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92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76127" y="64922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0235" y="350215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76072" y="41605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329184"/>
            <a:ext cx="10783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TRUST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hold the infrastructure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66928" y="1389888"/>
            <a:ext cx="5394960" cy="2606040"/>
          </a:xfrm>
          <a:prstGeom prst="roundRect">
            <a:avLst>
              <a:gd name="adj" fmla="val 3158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2551" y="1703527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18388" y="1769364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1042416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your VPS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9536" y="2121408"/>
            <a:ext cx="48280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Traefik terminates automatic SSL and routes by Docker labels — /api to the Bun container, everything else to the nginx-served dashboard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on the VPS: nightly dumps, WAL archiving off-host (Neon is dev-only)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Coolify manages it — Hostinger, AWS EC2 or DigitalOcean all 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6208" y="1389888"/>
            <a:ext cx="5394960" cy="2606040"/>
          </a:xfrm>
          <a:prstGeom prst="roundRect">
            <a:avLst>
              <a:gd name="adj" fmla="val 3158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21831" y="1703527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87668" y="1769364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711696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&amp; data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28816" y="2121408"/>
            <a:ext cx="48280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 envelope — operator-held ENCRYPTION_KEY; plaintext never persisted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tokens encrypted at rest; the operator owns the refresh schedule and full history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residency in the operator’s hands — PDPL / GDPR-aligned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224528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440740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2532888" y="448056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credentials — every integration is optional; zero-connector operation is a supported state, not an error.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36208" y="4224528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440740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9006840" y="448056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operator-owned — data, encrypted tokens, refresh schedule and the full history live on infrastructure you control.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92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76127" y="64922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0235" y="350215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76072" y="41605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329184"/>
            <a:ext cx="107835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EXPERIENCE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62179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locally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66928" y="1389888"/>
            <a:ext cx="6720840" cy="841248"/>
          </a:xfrm>
          <a:prstGeom prst="roundRect">
            <a:avLst>
              <a:gd name="adj" fmla="val 9783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36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81328" y="149961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 install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481328" y="18470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workspaces, Bun runtime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359152"/>
            <a:ext cx="6720840" cy="841248"/>
          </a:xfrm>
          <a:prstGeom prst="roundRect">
            <a:avLst>
              <a:gd name="adj" fmla="val 9783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81328" y="246888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481328" y="28163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DATABASE_URL · ENCRYPTION_KEY · JWT_SECRET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328416"/>
            <a:ext cx="6720840" cy="841248"/>
          </a:xfrm>
          <a:prstGeom prst="roundRect">
            <a:avLst>
              <a:gd name="adj" fmla="val 9783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81328" y="343814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 run db:generate → db:migrate → db:seed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81328" y="378561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schema, migrations, demo clients &amp; insights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297680"/>
            <a:ext cx="6720840" cy="841248"/>
          </a:xfrm>
          <a:prstGeom prst="roundRect">
            <a:avLst>
              <a:gd name="adj" fmla="val 9783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443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81328" y="440740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 run dev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481328" y="4754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:3000 · dashboard :5173, concurrent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5266944"/>
            <a:ext cx="6720840" cy="841248"/>
          </a:xfrm>
          <a:prstGeom prst="roundRect">
            <a:avLst>
              <a:gd name="adj" fmla="val 9783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413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81328" y="537667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 run test:e2e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481328" y="572414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Cypress suites mirror pages/ 1:1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16368" y="1389888"/>
            <a:ext cx="4105656" cy="4754880"/>
          </a:xfrm>
          <a:prstGeom prst="roundRect">
            <a:avLst>
              <a:gd name="adj" fmla="val 2004"/>
            </a:avLst>
          </a:prstGeom>
          <a:solidFill>
            <a:srgbClr val="151022"/>
          </a:solidFill>
          <a:ln w="9525">
            <a:solidFill>
              <a:srgbClr val="2C23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3703" y="1703527"/>
            <a:ext cx="213970" cy="21397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749540" y="1769364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7973568" y="1627632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— first real Meta ad account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790688" y="2103120"/>
            <a:ext cx="355701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Meta system-user token with ads_read, ads_management, business_management, read_insights… tied to the act_ account (decision D1)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workspace → Ad Accounts → Add ad account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name, act_ id and token — the staged sync lands campaigns in the workspace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hourly cron keeps accounts fresh; WK_SYNC_CRON=off disables it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92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076127" y="64922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92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233172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pPr algn="ctr" indent="0" marL="0">
              <a:buNone/>
            </a:pPr>
            <a:r>
              <a:rPr lang="en-US" sz="30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algn="ctr" indent="0" marL="0">
              <a:buNone/>
            </a:pPr>
            <a:r>
              <a:rPr lang="en-US" sz="3000" b="1" spc="200" kern="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pPr algn="ctr" indent="0" marL="0">
              <a:buNone/>
            </a:pPr>
            <a:r>
              <a:rPr lang="en-US" sz="30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algn="ctr" indent="0" marL="0">
              <a:buNone/>
            </a:pPr>
            <a:r>
              <a:rPr lang="en-US" sz="3000" b="1" spc="200" kern="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pPr algn="ctr" indent="0" marL="0">
              <a:buNone/>
            </a:pPr>
            <a:r>
              <a:rPr lang="en-US" sz="30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algn="ctr" indent="0" marL="0">
              <a:buNone/>
            </a:pPr>
            <a:r>
              <a:rPr lang="en-US" sz="3000" b="1" spc="2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3246120"/>
            <a:ext cx="8897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F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 climbs the ladder — Overview and Alerts &amp; Tasks must reach ACTION.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645920" y="3749040"/>
            <a:ext cx="8897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Honesty over fabrication: every number carries its source.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520233" y="4389120"/>
            <a:ext cx="256032" cy="68580"/>
          </a:xfrm>
          <a:prstGeom prst="roundRect">
            <a:avLst>
              <a:gd name="adj" fmla="val 46667"/>
            </a:avLst>
          </a:prstGeom>
          <a:solidFill>
            <a:srgbClr val="3B3057"/>
          </a:solidFill>
          <a:ln/>
        </p:spPr>
      </p:sp>
      <p:sp>
        <p:nvSpPr>
          <p:cNvPr id="8" name="Shape 6"/>
          <p:cNvSpPr/>
          <p:nvPr/>
        </p:nvSpPr>
        <p:spPr>
          <a:xfrm>
            <a:off x="5849417" y="4389120"/>
            <a:ext cx="329184" cy="68580"/>
          </a:xfrm>
          <a:prstGeom prst="roundRect">
            <a:avLst>
              <a:gd name="adj" fmla="val 46667"/>
            </a:avLst>
          </a:prstGeom>
          <a:solidFill>
            <a:srgbClr val="8B5CF6"/>
          </a:solidFill>
          <a:ln/>
        </p:spPr>
      </p:sp>
      <p:sp>
        <p:nvSpPr>
          <p:cNvPr id="9" name="Shape 7"/>
          <p:cNvSpPr/>
          <p:nvPr/>
        </p:nvSpPr>
        <p:spPr>
          <a:xfrm>
            <a:off x="6251753" y="4389120"/>
            <a:ext cx="420624" cy="68580"/>
          </a:xfrm>
          <a:prstGeom prst="roundRect">
            <a:avLst>
              <a:gd name="adj" fmla="val 46667"/>
            </a:avLst>
          </a:prstGeom>
          <a:solidFill>
            <a:srgbClr val="A78BFA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5989320"/>
            <a:ext cx="8897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9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Kart — run on infrastructure you control.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Winning Kart — Project Overview</dc:title>
  <dc:subject>Self-hosted performance-marketing platform for agencies</dc:subject>
  <dc:creator>Winning Kart</dc:creator>
  <cp:lastModifiedBy>Winning Kart</cp:lastModifiedBy>
  <cp:revision>1</cp:revision>
  <dcterms:created xsi:type="dcterms:W3CDTF">2026-08-28T06:53:01Z</dcterms:created>
  <dcterms:modified xsi:type="dcterms:W3CDTF">2026-08-28T06:53:01Z</dcterms:modified>
</cp:coreProperties>
</file>